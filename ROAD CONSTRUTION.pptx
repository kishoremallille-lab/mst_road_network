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3" r:id="rId1"/>
  </p:sldMasterIdLst>
  <p:sldIdLst>
    <p:sldId id="269" r:id="rId2"/>
    <p:sldId id="268" r:id="rId3"/>
    <p:sldId id="257" r:id="rId4"/>
    <p:sldId id="258" r:id="rId5"/>
    <p:sldId id="259" r:id="rId6"/>
    <p:sldId id="260" r:id="rId7"/>
    <p:sldId id="264" r:id="rId8"/>
    <p:sldId id="263" r:id="rId9"/>
    <p:sldId id="267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0A27-719B-433C-B738-0A056E56C70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AEB18-3A6D-4BEC-98F1-66FC00DFA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595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0A27-719B-433C-B738-0A056E56C70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AEB18-3A6D-4BEC-98F1-66FC00DFA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390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0A27-719B-433C-B738-0A056E56C70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AEB18-3A6D-4BEC-98F1-66FC00DFA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178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0A27-719B-433C-B738-0A056E56C70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AEB18-3A6D-4BEC-98F1-66FC00DFA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331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0A27-719B-433C-B738-0A056E56C70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AEB18-3A6D-4BEC-98F1-66FC00DFA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685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0A27-719B-433C-B738-0A056E56C70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AEB18-3A6D-4BEC-98F1-66FC00DFA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694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0A27-719B-433C-B738-0A056E56C70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AEB18-3A6D-4BEC-98F1-66FC00DFA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8428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0A27-719B-433C-B738-0A056E56C70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AEB18-3A6D-4BEC-98F1-66FC00DFA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906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0A27-719B-433C-B738-0A056E56C70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AEB18-3A6D-4BEC-98F1-66FC00DFA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94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0A27-719B-433C-B738-0A056E56C70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AEB18-3A6D-4BEC-98F1-66FC00DFA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455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0A27-719B-433C-B738-0A056E56C70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AEB18-3A6D-4BEC-98F1-66FC00DFA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171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0A27-719B-433C-B738-0A056E56C70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AEB18-3A6D-4BEC-98F1-66FC00DFA8F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4863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0A27-719B-433C-B738-0A056E56C70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AEB18-3A6D-4BEC-98F1-66FC00DFA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86049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0A27-719B-433C-B738-0A056E56C70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AEB18-3A6D-4BEC-98F1-66FC00DFA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4049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0A27-719B-433C-B738-0A056E56C70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AEB18-3A6D-4BEC-98F1-66FC00DFA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1454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0A27-719B-433C-B738-0A056E56C70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AEB18-3A6D-4BEC-98F1-66FC00DFA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8326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0A27-719B-433C-B738-0A056E56C70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AEB18-3A6D-4BEC-98F1-66FC00DFA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702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8290A27-719B-433C-B738-0A056E56C70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FAEB18-3A6D-4BEC-98F1-66FC00DFA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9692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  <p:sldLayoutId id="2147483935" r:id="rId12"/>
    <p:sldLayoutId id="2147483936" r:id="rId13"/>
    <p:sldLayoutId id="2147483937" r:id="rId14"/>
    <p:sldLayoutId id="2147483938" r:id="rId15"/>
    <p:sldLayoutId id="2147483939" r:id="rId16"/>
    <p:sldLayoutId id="214748394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8A80B-E616-2493-2BB1-EC67A734B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9BD3C-5591-CDF1-F93C-DA16FFB46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8090" y="2305965"/>
            <a:ext cx="3873910" cy="4416541"/>
          </a:xfrm>
        </p:spPr>
        <p:txBody>
          <a:bodyPr/>
          <a:lstStyle/>
          <a:p>
            <a:r>
              <a:rPr lang="en-IN" dirty="0"/>
              <a:t>NAME</a:t>
            </a:r>
            <a:r>
              <a:rPr lang="en-IN"/>
              <a:t>: J </a:t>
            </a:r>
            <a:r>
              <a:rPr lang="en-IN" dirty="0"/>
              <a:t>SANTHOSH</a:t>
            </a:r>
          </a:p>
          <a:p>
            <a:r>
              <a:rPr lang="en-IN" dirty="0"/>
              <a:t>ROLL NO: 25MVCSDR0213</a:t>
            </a:r>
          </a:p>
          <a:p>
            <a:r>
              <a:rPr lang="en-IN" dirty="0"/>
              <a:t>NAME: Y HITESH </a:t>
            </a:r>
          </a:p>
          <a:p>
            <a:r>
              <a:rPr lang="en-IN" dirty="0"/>
              <a:t>ROLL NO : 25MVCSDR0269</a:t>
            </a:r>
          </a:p>
          <a:p>
            <a:r>
              <a:rPr lang="en-IN" dirty="0"/>
              <a:t>NAME: M KISHORE</a:t>
            </a:r>
          </a:p>
          <a:p>
            <a:r>
              <a:rPr lang="en-IN" dirty="0"/>
              <a:t>ROLL NO: 25MVCSDR0226</a:t>
            </a:r>
          </a:p>
          <a:p>
            <a:r>
              <a:rPr lang="en-IN" dirty="0"/>
              <a:t>NAME: D BHAVISHYA</a:t>
            </a:r>
          </a:p>
          <a:p>
            <a:r>
              <a:rPr lang="en-IN" dirty="0"/>
              <a:t>ROLL NO:25MVCSDR0190</a:t>
            </a:r>
          </a:p>
        </p:txBody>
      </p:sp>
      <p:pic>
        <p:nvPicPr>
          <p:cNvPr id="5" name="object 4" descr="A close-up of a sign  AI-generated content may be incorrect.">
            <a:extLst>
              <a:ext uri="{FF2B5EF4-FFF2-40B4-BE49-F238E27FC236}">
                <a16:creationId xmlns:a16="http://schemas.microsoft.com/office/drawing/2014/main" id="{C55253A8-C041-3C19-E4C9-7A8CAE768AE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2305965"/>
          </a:xfrm>
          <a:prstGeom prst="rect">
            <a:avLst/>
          </a:prstGeom>
        </p:spPr>
      </p:pic>
      <p:pic>
        <p:nvPicPr>
          <p:cNvPr id="3074" name="Picture 3" descr="MRTC LOGO">
            <a:extLst>
              <a:ext uri="{FF2B5EF4-FFF2-40B4-BE49-F238E27FC236}">
                <a16:creationId xmlns:a16="http://schemas.microsoft.com/office/drawing/2014/main" id="{4E3F05A8-51EC-0BDE-887E-EE69D07DC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97" y="990982"/>
            <a:ext cx="769015" cy="1314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056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F82E9-8522-934C-5165-D39DDDDA4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3227832"/>
            <a:ext cx="10515600" cy="1972318"/>
          </a:xfrm>
        </p:spPr>
        <p:txBody>
          <a:bodyPr/>
          <a:lstStyle/>
          <a:p>
            <a:r>
              <a:rPr lang="en-US" dirty="0"/>
              <a:t>ROAD CONSTRUCTION PLANNING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3535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522734-191E-BB61-262B-2DB1E3DB1F5C}"/>
              </a:ext>
            </a:extLst>
          </p:cNvPr>
          <p:cNvSpPr txBox="1"/>
          <p:nvPr/>
        </p:nvSpPr>
        <p:spPr>
          <a:xfrm>
            <a:off x="3047238" y="2136339"/>
            <a:ext cx="609447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Introduction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Road construction planning is the process of preparing and organizing all activities required to construct a road.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It includes route selection, surveying, soil investigation, design, materials, equipment, manpower, and scheduling.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Proper planning helps complete the project safely, economically, and on time.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It also improves the quality and durability of the road.</a:t>
            </a:r>
          </a:p>
        </p:txBody>
      </p:sp>
    </p:spTree>
    <p:extLst>
      <p:ext uri="{BB962C8B-B14F-4D97-AF65-F5344CB8AC3E}">
        <p14:creationId xmlns:p14="http://schemas.microsoft.com/office/powerpoint/2010/main" val="2288799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4D39DE-1C56-EB3C-FDD9-3871278D132E}"/>
              </a:ext>
            </a:extLst>
          </p:cNvPr>
          <p:cNvSpPr txBox="1"/>
          <p:nvPr/>
        </p:nvSpPr>
        <p:spPr>
          <a:xfrm>
            <a:off x="3047238" y="2274838"/>
            <a:ext cx="60944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Objectives of Road Construction Planning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select a suitable road alignment.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ensure safe and comfortable transportation.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estimate construction cost and resources.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complete the project within the planned time.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use materials and equipment efficiently.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ensure proper quality control.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minimize environmental impact.</a:t>
            </a:r>
          </a:p>
        </p:txBody>
      </p:sp>
    </p:spTree>
    <p:extLst>
      <p:ext uri="{BB962C8B-B14F-4D97-AF65-F5344CB8AC3E}">
        <p14:creationId xmlns:p14="http://schemas.microsoft.com/office/powerpoint/2010/main" val="942688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7130C5-BF81-4B57-032E-C92DEDB94C86}"/>
              </a:ext>
            </a:extLst>
          </p:cNvPr>
          <p:cNvSpPr txBox="1"/>
          <p:nvPr/>
        </p:nvSpPr>
        <p:spPr>
          <a:xfrm>
            <a:off x="3047238" y="1859340"/>
            <a:ext cx="609447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Preliminary Survey</a:t>
            </a:r>
          </a:p>
          <a:p>
            <a:pPr>
              <a:buNone/>
            </a:pPr>
            <a:r>
              <a:rPr lang="en-IN" b="1" dirty="0"/>
              <a:t>Important activities: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Reconnaissance survey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Preliminary survey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Detailed survey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Collection of topographical data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Soil and geological investigation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Traffic data collection</a:t>
            </a:r>
          </a:p>
          <a:p>
            <a:pPr>
              <a:buNone/>
            </a:pPr>
            <a:r>
              <a:rPr lang="en-IN" b="1" dirty="0"/>
              <a:t>Purpose:</a:t>
            </a:r>
            <a:br>
              <a:rPr lang="en-IN" dirty="0"/>
            </a:br>
            <a:r>
              <a:rPr lang="en-IN" dirty="0"/>
              <a:t>To identify the most suitable route and understand the site conditions before construction.</a:t>
            </a:r>
          </a:p>
        </p:txBody>
      </p:sp>
    </p:spTree>
    <p:extLst>
      <p:ext uri="{BB962C8B-B14F-4D97-AF65-F5344CB8AC3E}">
        <p14:creationId xmlns:p14="http://schemas.microsoft.com/office/powerpoint/2010/main" val="319368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ABA7F1-1F2E-747D-9AE7-A800AB6BCB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082528"/>
              </p:ext>
            </p:extLst>
          </p:nvPr>
        </p:nvGraphicFramePr>
        <p:xfrm>
          <a:off x="839724" y="1994888"/>
          <a:ext cx="10515600" cy="41392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1239113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89243061"/>
                    </a:ext>
                  </a:extLst>
                </a:gridCol>
              </a:tblGrid>
              <a:tr h="591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Material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20851"/>
                  </a:ext>
                </a:extLst>
              </a:tr>
              <a:tr h="591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Embankment and subgrade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6605266"/>
                  </a:ext>
                </a:extLst>
              </a:tr>
              <a:tr h="591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Filling and construction 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9924333"/>
                  </a:ext>
                </a:extLst>
              </a:tr>
              <a:tr h="591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Aggregate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Sub-base and base layers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2175800"/>
                  </a:ext>
                </a:extLst>
              </a:tr>
              <a:tr h="591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Concrete works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3086707"/>
                  </a:ext>
                </a:extLst>
              </a:tr>
              <a:tr h="591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Bitumen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Flexible pavement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5556991"/>
                  </a:ext>
                </a:extLst>
              </a:tr>
              <a:tr h="591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Water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Mixing and compaction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25968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2C6E3F4-4ECC-8BF4-EA3A-8854F1D5E5B6}"/>
              </a:ext>
            </a:extLst>
          </p:cNvPr>
          <p:cNvSpPr txBox="1"/>
          <p:nvPr/>
        </p:nvSpPr>
        <p:spPr>
          <a:xfrm>
            <a:off x="4306824" y="1225296"/>
            <a:ext cx="4215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Construction Materials</a:t>
            </a:r>
          </a:p>
        </p:txBody>
      </p:sp>
    </p:spTree>
    <p:extLst>
      <p:ext uri="{BB962C8B-B14F-4D97-AF65-F5344CB8AC3E}">
        <p14:creationId xmlns:p14="http://schemas.microsoft.com/office/powerpoint/2010/main" val="632919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437B4-C76F-75EB-C062-FA8BD2D8B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11A33E4-9EFF-CCCA-5704-6500147A1A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641165"/>
              </p:ext>
            </p:extLst>
          </p:nvPr>
        </p:nvGraphicFramePr>
        <p:xfrm>
          <a:off x="838200" y="1825625"/>
          <a:ext cx="10515600" cy="25603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56826310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406801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8996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591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125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947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6464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547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715005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BEC7D63-7749-E20A-3F88-68F2398D05E3}"/>
              </a:ext>
            </a:extLst>
          </p:cNvPr>
          <p:cNvSpPr txBox="1"/>
          <p:nvPr/>
        </p:nvSpPr>
        <p:spPr>
          <a:xfrm>
            <a:off x="2562606" y="936903"/>
            <a:ext cx="609447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Road Construction Process</a:t>
            </a:r>
          </a:p>
          <a:p>
            <a:pPr>
              <a:buNone/>
            </a:pPr>
            <a:r>
              <a:rPr lang="en-IN" b="1" dirty="0"/>
              <a:t>Typical sequence:</a:t>
            </a:r>
          </a:p>
          <a:p>
            <a:pPr>
              <a:buNone/>
            </a:pPr>
            <a:r>
              <a:rPr lang="en-IN" b="1" dirty="0"/>
              <a:t>1. Site Clearing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2. Earthwork and Embankment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3. Subgrade Preparation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4. Sub-base Construction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5. Base Course Construction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6. Bituminous/Concrete Surface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7. Drainage and Road Furniture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8. Road Markings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2813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71717-A11E-A14D-D433-CE548FA25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994329-463C-1F5B-ECAF-BC972E1B8287}"/>
              </a:ext>
            </a:extLst>
          </p:cNvPr>
          <p:cNvSpPr txBox="1"/>
          <p:nvPr/>
        </p:nvSpPr>
        <p:spPr>
          <a:xfrm>
            <a:off x="3047238" y="751344"/>
            <a:ext cx="609447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Equipment and Manpower Planning</a:t>
            </a:r>
          </a:p>
          <a:p>
            <a:pPr>
              <a:buNone/>
            </a:pPr>
            <a:r>
              <a:rPr lang="en-IN" b="1" dirty="0"/>
              <a:t>Major Equipment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Excavators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Bulldozers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Motor graders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Dump trucks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Water tankers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Rollers/compactors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Pavers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Concrete mixers</a:t>
            </a:r>
          </a:p>
          <a:p>
            <a:pPr>
              <a:buNone/>
            </a:pPr>
            <a:r>
              <a:rPr lang="en-IN" b="1" dirty="0"/>
              <a:t>Manpower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Project manager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Civil engineers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Surveyors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Site supervisors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Machine operators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Skilled and unskilled workers</a:t>
            </a:r>
          </a:p>
          <a:p>
            <a:pPr>
              <a:buNone/>
            </a:pPr>
            <a:r>
              <a:rPr lang="en-IN" dirty="0"/>
              <a:t>Proper allocation of equipment and manpower reduces delays.</a:t>
            </a:r>
          </a:p>
        </p:txBody>
      </p:sp>
    </p:spTree>
    <p:extLst>
      <p:ext uri="{BB962C8B-B14F-4D97-AF65-F5344CB8AC3E}">
        <p14:creationId xmlns:p14="http://schemas.microsoft.com/office/powerpoint/2010/main" val="741462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A62F6-DCE7-BFBF-543D-FE79DAEBC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CB6671-2CA1-B6FD-366E-7DA9ADF55450}"/>
              </a:ext>
            </a:extLst>
          </p:cNvPr>
          <p:cNvSpPr txBox="1"/>
          <p:nvPr/>
        </p:nvSpPr>
        <p:spPr>
          <a:xfrm>
            <a:off x="3047238" y="1166843"/>
            <a:ext cx="60944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Cost, Time and Quality Control</a:t>
            </a:r>
          </a:p>
          <a:p>
            <a:pPr>
              <a:buNone/>
            </a:pPr>
            <a:r>
              <a:rPr lang="en-IN" b="1" dirty="0"/>
              <a:t>Cost Planning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Material cost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Labour cost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Equipment cost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Transportation cost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Land and other project expenses</a:t>
            </a:r>
          </a:p>
          <a:p>
            <a:pPr>
              <a:buNone/>
            </a:pPr>
            <a:r>
              <a:rPr lang="en-IN" b="1" dirty="0"/>
              <a:t>Time Planning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Prepare a construction schedule.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Set milestones for each activity.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Monitor progress regularly.</a:t>
            </a:r>
          </a:p>
          <a:p>
            <a:pPr>
              <a:buNone/>
            </a:pPr>
            <a:r>
              <a:rPr lang="en-IN" b="1" dirty="0"/>
              <a:t>Quality Control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Test construction materials.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Check layer thickness and compaction.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Inspect pavement quality.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Follow applicable road construction standards.</a:t>
            </a:r>
          </a:p>
        </p:txBody>
      </p:sp>
    </p:spTree>
    <p:extLst>
      <p:ext uri="{BB962C8B-B14F-4D97-AF65-F5344CB8AC3E}">
        <p14:creationId xmlns:p14="http://schemas.microsoft.com/office/powerpoint/2010/main" val="560577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9C24-3C01-2C62-C4C2-336764904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661B77-0283-5D1C-ADC9-F79E72959419}"/>
              </a:ext>
            </a:extLst>
          </p:cNvPr>
          <p:cNvSpPr txBox="1"/>
          <p:nvPr/>
        </p:nvSpPr>
        <p:spPr>
          <a:xfrm>
            <a:off x="1793240" y="1554480"/>
            <a:ext cx="86055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Conclusion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Road construction planning is essential for successful road projects.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Proper surveys and </a:t>
            </a:r>
            <a:r>
              <a:rPr lang="en-IN" sz="3600" dirty="0"/>
              <a:t>design</a:t>
            </a:r>
            <a:r>
              <a:rPr lang="en-IN" dirty="0"/>
              <a:t> help select a suitable alignment.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Effective planning of materials, manpower, equipment, cost, and time reduces delays.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Quality control ensures a strong and durable road.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Good planning ultimately provides </a:t>
            </a:r>
            <a:r>
              <a:rPr lang="en-IN" b="1" dirty="0"/>
              <a:t>safe, economical, durable, and efficient transportation infrastructure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1544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19640-4D2D-4D3D-07FD-D50710E2F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48648E-8865-E89D-6B6B-AFED8BABDC62}"/>
              </a:ext>
            </a:extLst>
          </p:cNvPr>
          <p:cNvSpPr txBox="1"/>
          <p:nvPr/>
        </p:nvSpPr>
        <p:spPr>
          <a:xfrm>
            <a:off x="4114800" y="2340864"/>
            <a:ext cx="33832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Thank you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6562843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43</TotalTime>
  <Words>452</Words>
  <Application>Microsoft Office PowerPoint</Application>
  <PresentationFormat>Widescreen</PresentationFormat>
  <Paragraphs>90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</vt:lpstr>
      <vt:lpstr>PowerPoint Presentation</vt:lpstr>
      <vt:lpstr>ROAD CONSTRUCTION PLANNING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Hitesh Sai Venkat</dc:creator>
  <cp:lastModifiedBy>MALLELLI KISHORE</cp:lastModifiedBy>
  <cp:revision>2</cp:revision>
  <dcterms:created xsi:type="dcterms:W3CDTF">2026-10-03T06:04:08Z</dcterms:created>
  <dcterms:modified xsi:type="dcterms:W3CDTF">2026-10-03T07:10:31Z</dcterms:modified>
</cp:coreProperties>
</file>